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</ns0:sldIdLst>
  <ns0:sldSz cx="12192000" cy="6858000" type="screen4x3"/>
  <ns0:notesSz cx="6858000" cy="9144000"/>
  <ns0:embeddedFontLst>
    <ns0:embeddedFont>
      <ns0:font typeface="Space Grotesk"/>
      <ns0:bold ns1:id="rIdFont9"/>
    </ns0:embeddedFont>
    <ns0:embeddedFont>
      <ns0:font typeface="DM Sans"/>
      <ns0:bold ns1:id="rIdFont10"/>
      <ns0:regular ns1:id="rIdFont1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Font9" Type="http://schemas.openxmlformats.org/officeDocument/2006/relationships/font" Target="fonts/c92f6ae5-0845-4f3f-a3cd-395c27e1e418.fntdata" /><ns0:Relationship Id="rIdFont10" Type="http://schemas.openxmlformats.org/officeDocument/2006/relationships/font" Target="fonts/65240289-5d20-4758-840f-07e2af12b704.fntdata" /><ns0:Relationship Id="rIdFont11" Type="http://schemas.openxmlformats.org/officeDocument/2006/relationships/font" Target="fonts/3377d77f-125e-4ce2-9097-5a1cd8cc701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00700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VISHWAKARMA AWARDS 2026-27 • SYSTEM ARCHITECTURE (SLIDE 5A)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System Block Diagram &amp; Logic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772150"/>
            <a:ext cx="10610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DM Sans"/>
              </a:rPr>
              <a:t>Architecture Rationale:</a:t>
            </a:r>
            <a:r>
              <a:rPr b="0" sz="1350" i="0" u="none">
                <a:solidFill>
                  <a:srgbClr val="0369A1"/>
                </a:solidFill>
                <a:latin typeface="DM Sans"/>
              </a:rPr>
              <a:t> Dual-MCU 3.3V UART split isolates Wi-Fi video streaming from real-time PWM motor loops; dry above-waterline motor placement prevents seal failure.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05450"/>
            <a:ext cx="1885950" cy="752475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628900" y="5505450"/>
            <a:ext cx="1885950" cy="752475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1650"/>
            <a:ext cx="390525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81175"/>
            <a:ext cx="3886200" cy="30289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57750" y="1343025"/>
            <a:ext cx="6724650" cy="5343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57750" y="1343025"/>
          <a:ext cx="6715123" cy="53435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66453"/>
                <a:gridCol w="1485453"/>
                <a:gridCol w="3363217"/>
              </a:tblGrid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Target Spec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Selected Hardware / Protocol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Vessel Envelope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120 × 65 × 55 cm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2020 T-slot aluminum frame + PVC hull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Mass &amp; Payload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8.2 kg / 8.0 kg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35L removable mesh crate on sliding rails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Buoyancy &amp; Draft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36.2 L / 15.5 cm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Twin sealed PVC pipes (GM &gt; 0.18 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Propulsion Drive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360° zero-turn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2× 12V geared/RS-775 motors + 2× BTS7960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Intake Mechanism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32 cm V-mouth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45 RPM grab-roller + 30 RPM SS mesh / baffle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79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Continuous Runtime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DM Sans"/>
                        </a:rPr>
                        <a:t>102–148 mins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12.8V 6Ah LiFePO4 (20A BMS) + 20W solar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79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Control &amp; Vision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180 m LoS Wi-Fi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ESP32-CAM (FPV) + ESP32 DevKit V1 (UART)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VISHWAKARMA AWARDS 2026-27 • TARGET SPECIFICATIONS (SLIDE 5B)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Engineering Target Specifications &amp;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7205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DM Sans"/>
              </a:rPr>
              <a:t>Figure:</a:t>
            </a:r>
            <a:r>
              <a:rPr b="0" sz="1125" i="0" u="none">
                <a:solidFill>
                  <a:srgbClr val="475569"/>
                </a:solidFill>
                <a:latin typeface="DM Sans"/>
              </a:rPr>
              <a:t> VARUNA V1.0 twin-pontoon 2020 aluminum prototype with IP65 junction box on lab bench.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5629275"/>
            <a:ext cx="19526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Space Grotesk"/>
              </a:rPr>
              <a:t>42.2 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5962650"/>
            <a:ext cx="195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DM Sans"/>
              </a:rPr>
              <a:t>Total Power (3.52A)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0825" y="5629275"/>
            <a:ext cx="19526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Space Grotesk"/>
              </a:rPr>
              <a:t>₹10,250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0825" y="5962650"/>
            <a:ext cx="195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DM Sans"/>
              </a:rPr>
              <a:t>Stage 2 MVP Ceiling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